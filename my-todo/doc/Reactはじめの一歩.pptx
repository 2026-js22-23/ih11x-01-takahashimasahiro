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15"/>
  </p:notesMasterIdLst>
  <p:sldIdLst>
    <p:sldId id="265" r:id="rId5"/>
    <p:sldId id="266" r:id="rId6"/>
    <p:sldId id="267" r:id="rId7"/>
    <p:sldId id="274" r:id="rId8"/>
    <p:sldId id="271" r:id="rId9"/>
    <p:sldId id="268" r:id="rId10"/>
    <p:sldId id="272" r:id="rId11"/>
    <p:sldId id="269" r:id="rId12"/>
    <p:sldId id="273" r:id="rId13"/>
    <p:sldId id="270" r:id="rId1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6" autoAdjust="0"/>
    <p:restoredTop sz="94660"/>
  </p:normalViewPr>
  <p:slideViewPr>
    <p:cSldViewPr snapToGrid="0">
      <p:cViewPr varScale="1">
        <p:scale>
          <a:sx n="80" d="100"/>
          <a:sy n="80" d="100"/>
        </p:scale>
        <p:origin x="876" y="10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9/7/2026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SLIDE">
    <p:bg>
      <p:bgPr>
        <a:solidFill>
          <a:srgbClr val="0B1B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731520" y="1737360"/>
            <a:ext cx="7680960" cy="128016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40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defRPr>
            </a:lvl1pPr>
          </a:lstStyle>
          <a:p>
            <a:pPr marL="0" indent="0" algn="l">
              <a:buNone/>
            </a:pPr>
            <a:endParaRPr lang="en-US" sz="4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0B1B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82296" cy="5143500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3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347472"/>
            <a:ext cx="8138160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28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defRPr>
            </a:lvl1pPr>
          </a:lstStyle>
          <a:p>
            <a:pPr marL="0" indent="0" algn="l">
              <a:buNone/>
            </a:pPr>
            <a:endParaRPr lang="en-US" sz="28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472921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上部アクセントバー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22D3EE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3" name="Text 1"/>
          <p:cNvSpPr/>
          <p:nvPr/>
        </p:nvSpPr>
        <p:spPr>
          <a:xfrm>
            <a:off x="731520" y="12344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ja-JP" altLang="en-US" sz="1400" kern="0" spc="400">
                <a:solidFill>
                  <a:srgbClr val="22D3E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実践編</a:t>
            </a:r>
            <a:endParaRPr lang="en-US" sz="1400"/>
          </a:p>
        </p:txBody>
      </p:sp>
      <p:sp>
        <p:nvSpPr>
          <p:cNvPr id="4" name="Text 0"/>
          <p:cNvSpPr>
            <a:spLocks noGrp="1"/>
          </p:cNvSpPr>
          <p:nvPr>
            <p:ph type="title" idx="100" hasCustomPrompt="1"/>
          </p:nvPr>
        </p:nvSpPr>
        <p:spPr>
          <a:xfrm>
            <a:off x="731520" y="1737360"/>
            <a:ext cx="7680960" cy="128016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 algn="l">
              <a:buNone/>
            </a:pPr>
            <a:r>
              <a:rPr lang="en-US" sz="4000" b="1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React </a:t>
            </a:r>
            <a:r>
              <a:rPr lang="ja-JP" altLang="en-US" sz="4000" b="1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チュートリアル</a:t>
            </a:r>
            <a:endParaRPr lang="en-US" sz="4000"/>
          </a:p>
        </p:txBody>
      </p:sp>
      <p:sp>
        <p:nvSpPr>
          <p:cNvPr id="5" name="Text 3"/>
          <p:cNvSpPr/>
          <p:nvPr/>
        </p:nvSpPr>
        <p:spPr>
          <a:xfrm>
            <a:off x="749808" y="30632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altLang="ja-JP" sz="1800">
                <a:solidFill>
                  <a:srgbClr val="B8C6D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― </a:t>
            </a:r>
            <a:r>
              <a:rPr lang="ja-JP" altLang="en-US" sz="1800">
                <a:solidFill>
                  <a:srgbClr val="B8C6D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手を動かして「</a:t>
            </a:r>
            <a:r>
              <a:rPr lang="en-US" sz="1800">
                <a:solidFill>
                  <a:srgbClr val="B8C6D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TODO</a:t>
            </a:r>
            <a:r>
              <a:rPr lang="ja-JP" altLang="en-US" sz="1800">
                <a:solidFill>
                  <a:srgbClr val="B8C6D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リスト」を作ってみる </a:t>
            </a:r>
            <a:r>
              <a:rPr lang="en-US" altLang="ja-JP" sz="1800">
                <a:solidFill>
                  <a:srgbClr val="B8C6D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―</a:t>
            </a:r>
            <a:endParaRPr lang="en-US" sz="1800"/>
          </a:p>
        </p:txBody>
      </p:sp>
      <p:sp>
        <p:nvSpPr>
          <p:cNvPr id="6" name="Text 4"/>
          <p:cNvSpPr/>
          <p:nvPr/>
        </p:nvSpPr>
        <p:spPr>
          <a:xfrm>
            <a:off x="749808" y="42062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ja-JP" altLang="en-US" sz="1300">
                <a:solidFill>
                  <a:srgbClr val="0E749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所要 </a:t>
            </a:r>
            <a:r>
              <a:rPr lang="en-US" altLang="ja-JP" sz="1300">
                <a:solidFill>
                  <a:srgbClr val="0E749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90</a:t>
            </a:r>
            <a:r>
              <a:rPr lang="ja-JP" altLang="en-US" sz="1300">
                <a:solidFill>
                  <a:srgbClr val="0E749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分／ペアでも</a:t>
            </a:r>
            <a:r>
              <a:rPr lang="en-US" sz="1300">
                <a:solidFill>
                  <a:srgbClr val="0E749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OK</a:t>
            </a:r>
            <a:endParaRPr lang="en-US" sz="13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347472"/>
            <a:ext cx="8138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ja-JP" altLang="en-US" sz="2800" b="1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今日つくるもの：</a:t>
            </a:r>
            <a:r>
              <a:rPr lang="en-US" altLang="ja-JP" sz="2800" b="1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TODO</a:t>
            </a:r>
            <a:r>
              <a:rPr lang="ja-JP" altLang="en-US" sz="2800" b="1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リスト</a:t>
            </a:r>
            <a:endParaRPr lang="en-US" sz="2800"/>
          </a:p>
        </p:txBody>
      </p:sp>
      <p:sp>
        <p:nvSpPr>
          <p:cNvPr id="3" name="見出し下線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8640" y="1060704"/>
            <a:ext cx="2743200" cy="0"/>
          </a:xfrm>
          <a:prstGeom prst="line">
            <a:avLst/>
          </a:prstGeom>
          <a:noFill/>
          <a:ln w="25400">
            <a:solidFill>
              <a:srgbClr val="22D3EE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" name="カード背景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8640" y="1463040"/>
            <a:ext cx="1874520" cy="2377440"/>
          </a:xfrm>
          <a:prstGeom prst="rect">
            <a:avLst/>
          </a:prstGeom>
          <a:solidFill>
            <a:srgbClr val="12294A"/>
          </a:solidFill>
          <a:ln w="12700">
            <a:solidFill>
              <a:srgbClr val="1E3A5F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5" name="カード上部ライン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8640" y="1463040"/>
            <a:ext cx="1874520" cy="73152"/>
          </a:xfrm>
          <a:prstGeom prst="rect">
            <a:avLst/>
          </a:prstGeom>
          <a:solidFill>
            <a:srgbClr val="22D3EE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6" name="Text 4"/>
          <p:cNvSpPr/>
          <p:nvPr/>
        </p:nvSpPr>
        <p:spPr>
          <a:xfrm>
            <a:off x="685800" y="1828800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ja-JP" altLang="en-US" sz="1500" b="1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入力欄</a:t>
            </a:r>
            <a:endParaRPr lang="en-US" sz="1500"/>
          </a:p>
        </p:txBody>
      </p:sp>
      <p:sp>
        <p:nvSpPr>
          <p:cNvPr id="7" name="Text 5"/>
          <p:cNvSpPr/>
          <p:nvPr/>
        </p:nvSpPr>
        <p:spPr>
          <a:xfrm>
            <a:off x="685800" y="2468880"/>
            <a:ext cx="1600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ja-JP" altLang="en-US" sz="1200">
                <a:solidFill>
                  <a:srgbClr val="B8C6D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文字を打って</a:t>
            </a:r>
          </a:p>
          <a:p>
            <a:pPr marL="0" indent="0" algn="ctr">
              <a:buNone/>
            </a:pPr>
            <a:r>
              <a:rPr lang="en-US" altLang="ja-JP" sz="1200">
                <a:solidFill>
                  <a:srgbClr val="B8C6D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Enter </a:t>
            </a:r>
            <a:r>
              <a:rPr lang="ja-JP" altLang="en-US" sz="1200">
                <a:solidFill>
                  <a:srgbClr val="B8C6D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か追加ボタン</a:t>
            </a:r>
            <a:endParaRPr lang="en-US" sz="1200"/>
          </a:p>
        </p:txBody>
      </p:sp>
      <p:sp>
        <p:nvSpPr>
          <p:cNvPr id="8" name="カード背景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606040" y="1463040"/>
            <a:ext cx="1874520" cy="2377440"/>
          </a:xfrm>
          <a:prstGeom prst="rect">
            <a:avLst/>
          </a:prstGeom>
          <a:solidFill>
            <a:srgbClr val="12294A"/>
          </a:solidFill>
          <a:ln w="12700">
            <a:solidFill>
              <a:srgbClr val="1E3A5F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9" name="カード上部ライン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606040" y="1463040"/>
            <a:ext cx="1874520" cy="73152"/>
          </a:xfrm>
          <a:prstGeom prst="rect">
            <a:avLst/>
          </a:prstGeom>
          <a:solidFill>
            <a:srgbClr val="22D3EE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0" name="Text 8"/>
          <p:cNvSpPr/>
          <p:nvPr/>
        </p:nvSpPr>
        <p:spPr>
          <a:xfrm>
            <a:off x="2743200" y="1828800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ja-JP" altLang="en-US" sz="1500" b="1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一覧表示</a:t>
            </a:r>
            <a:endParaRPr lang="en-US" sz="1500"/>
          </a:p>
        </p:txBody>
      </p:sp>
      <p:sp>
        <p:nvSpPr>
          <p:cNvPr id="11" name="Text 9"/>
          <p:cNvSpPr/>
          <p:nvPr/>
        </p:nvSpPr>
        <p:spPr>
          <a:xfrm>
            <a:off x="2743200" y="2468880"/>
            <a:ext cx="1600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ja-JP" altLang="en-US" sz="1200">
                <a:solidFill>
                  <a:srgbClr val="B8C6D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配列を </a:t>
            </a:r>
            <a:r>
              <a:rPr lang="en-US" sz="1200">
                <a:solidFill>
                  <a:srgbClr val="B8C6D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map </a:t>
            </a:r>
            <a:r>
              <a:rPr lang="ja-JP" altLang="en-US" sz="1200">
                <a:solidFill>
                  <a:srgbClr val="B8C6D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で</a:t>
            </a:r>
          </a:p>
          <a:p>
            <a:pPr marL="0" indent="0" algn="ctr">
              <a:buNone/>
            </a:pPr>
            <a:r>
              <a:rPr lang="ja-JP" altLang="en-US" sz="1200">
                <a:solidFill>
                  <a:srgbClr val="B8C6D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カードに並べる</a:t>
            </a:r>
            <a:endParaRPr lang="en-US" sz="1200"/>
          </a:p>
        </p:txBody>
      </p:sp>
      <p:sp>
        <p:nvSpPr>
          <p:cNvPr id="12" name="カード背景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663440" y="1463040"/>
            <a:ext cx="1874520" cy="2377440"/>
          </a:xfrm>
          <a:prstGeom prst="rect">
            <a:avLst/>
          </a:prstGeom>
          <a:solidFill>
            <a:srgbClr val="12294A"/>
          </a:solidFill>
          <a:ln w="12700">
            <a:solidFill>
              <a:srgbClr val="1E3A5F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3" name="カード上部ライン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663440" y="1463040"/>
            <a:ext cx="1874520" cy="73152"/>
          </a:xfrm>
          <a:prstGeom prst="rect">
            <a:avLst/>
          </a:prstGeom>
          <a:solidFill>
            <a:srgbClr val="22D3EE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4" name="Text 12"/>
          <p:cNvSpPr/>
          <p:nvPr/>
        </p:nvSpPr>
        <p:spPr>
          <a:xfrm>
            <a:off x="4800600" y="1828800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ja-JP" altLang="en-US" sz="1500" b="1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完了チェック</a:t>
            </a:r>
            <a:endParaRPr lang="en-US" sz="1500"/>
          </a:p>
        </p:txBody>
      </p:sp>
      <p:sp>
        <p:nvSpPr>
          <p:cNvPr id="15" name="Text 13"/>
          <p:cNvSpPr/>
          <p:nvPr/>
        </p:nvSpPr>
        <p:spPr>
          <a:xfrm>
            <a:off x="4800600" y="2468880"/>
            <a:ext cx="1600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ja-JP" altLang="en-US" sz="1200">
                <a:solidFill>
                  <a:srgbClr val="B8C6D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クリックで</a:t>
            </a:r>
          </a:p>
          <a:p>
            <a:pPr marL="0" indent="0" algn="ctr">
              <a:buNone/>
            </a:pPr>
            <a:r>
              <a:rPr lang="ja-JP" altLang="en-US" sz="1200">
                <a:solidFill>
                  <a:srgbClr val="B8C6D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取り消し線を付ける</a:t>
            </a:r>
            <a:endParaRPr lang="en-US" sz="1200"/>
          </a:p>
        </p:txBody>
      </p:sp>
      <p:sp>
        <p:nvSpPr>
          <p:cNvPr id="16" name="カード背景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720840" y="1463040"/>
            <a:ext cx="1874520" cy="2377440"/>
          </a:xfrm>
          <a:prstGeom prst="rect">
            <a:avLst/>
          </a:prstGeom>
          <a:solidFill>
            <a:srgbClr val="12294A"/>
          </a:solidFill>
          <a:ln w="12700">
            <a:solidFill>
              <a:srgbClr val="1E3A5F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7" name="カード上部ライン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720840" y="1463040"/>
            <a:ext cx="1874520" cy="73152"/>
          </a:xfrm>
          <a:prstGeom prst="rect">
            <a:avLst/>
          </a:prstGeom>
          <a:solidFill>
            <a:srgbClr val="22D3EE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8" name="Text 16"/>
          <p:cNvSpPr/>
          <p:nvPr/>
        </p:nvSpPr>
        <p:spPr>
          <a:xfrm>
            <a:off x="6858000" y="1828800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ja-JP" altLang="en-US" sz="1500" b="1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件数の表示</a:t>
            </a:r>
            <a:endParaRPr lang="en-US" sz="1500"/>
          </a:p>
        </p:txBody>
      </p:sp>
      <p:sp>
        <p:nvSpPr>
          <p:cNvPr id="19" name="Text 17"/>
          <p:cNvSpPr/>
          <p:nvPr/>
        </p:nvSpPr>
        <p:spPr>
          <a:xfrm>
            <a:off x="6858000" y="2468880"/>
            <a:ext cx="1600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ja-JP" altLang="en-US" sz="1200">
                <a:solidFill>
                  <a:srgbClr val="B8C6D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残りタスク数が</a:t>
            </a:r>
          </a:p>
          <a:p>
            <a:pPr marL="0" indent="0" algn="ctr">
              <a:buNone/>
            </a:pPr>
            <a:r>
              <a:rPr lang="ja-JP" altLang="en-US" sz="1200">
                <a:solidFill>
                  <a:srgbClr val="B8C6D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自動で更新される</a:t>
            </a:r>
            <a:endParaRPr lang="en-US" sz="1200"/>
          </a:p>
        </p:txBody>
      </p:sp>
      <p:sp>
        <p:nvSpPr>
          <p:cNvPr id="20" name="Text 18"/>
          <p:cNvSpPr/>
          <p:nvPr/>
        </p:nvSpPr>
        <p:spPr>
          <a:xfrm>
            <a:off x="548640" y="411480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ja-JP" altLang="en-US" sz="1400">
                <a:solidFill>
                  <a:srgbClr val="22D3E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ポイント：</a:t>
            </a:r>
            <a:r>
              <a:rPr lang="en-US" altLang="ja-JP" sz="1400">
                <a:solidFill>
                  <a:srgbClr val="22D3E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DOM </a:t>
            </a:r>
            <a:r>
              <a:rPr lang="ja-JP" altLang="en-US" sz="1400">
                <a:solidFill>
                  <a:srgbClr val="22D3E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を一度も触らない。配列を書き換えるだけで画面が変わることを体感する。</a:t>
            </a:r>
            <a:endParaRPr lang="en-US" sz="14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347472"/>
            <a:ext cx="8138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ja-JP" altLang="en-US" sz="2800" b="1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進め方（この</a:t>
            </a:r>
            <a:r>
              <a:rPr lang="en-US" altLang="ja-JP" sz="2800" b="1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4</a:t>
            </a:r>
            <a:r>
              <a:rPr lang="ja-JP" altLang="en-US" sz="2800" b="1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ステップで動く）</a:t>
            </a:r>
            <a:endParaRPr lang="en-US" sz="2800"/>
          </a:p>
        </p:txBody>
      </p:sp>
      <p:sp>
        <p:nvSpPr>
          <p:cNvPr id="3" name="見出し下線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8640" y="1060704"/>
            <a:ext cx="2743200" cy="0"/>
          </a:xfrm>
          <a:prstGeom prst="line">
            <a:avLst/>
          </a:prstGeom>
          <a:noFill/>
          <a:ln w="25400">
            <a:solidFill>
              <a:srgbClr val="22D3EE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" name="カード背景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57200" y="1554480"/>
            <a:ext cx="1828800" cy="2194560"/>
          </a:xfrm>
          <a:prstGeom prst="rect">
            <a:avLst/>
          </a:prstGeom>
          <a:solidFill>
            <a:srgbClr val="12294A"/>
          </a:solidFill>
          <a:ln w="12700">
            <a:solidFill>
              <a:srgbClr val="1E3A5F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5" name="番号の円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170432" y="1325880"/>
            <a:ext cx="402336" cy="402336"/>
          </a:xfrm>
          <a:prstGeom prst="ellipse">
            <a:avLst/>
          </a:prstGeom>
          <a:solidFill>
            <a:srgbClr val="22D3EE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6" name="Text 4"/>
          <p:cNvSpPr/>
          <p:nvPr/>
        </p:nvSpPr>
        <p:spPr>
          <a:xfrm>
            <a:off x="1170432" y="132588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0B1B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</a:t>
            </a:r>
            <a:endParaRPr lang="en-US" sz="1300"/>
          </a:p>
        </p:txBody>
      </p:sp>
      <p:sp>
        <p:nvSpPr>
          <p:cNvPr id="7" name="Text 5"/>
          <p:cNvSpPr/>
          <p:nvPr/>
        </p:nvSpPr>
        <p:spPr>
          <a:xfrm>
            <a:off x="566928" y="1965960"/>
            <a:ext cx="1609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ja-JP" altLang="en-US" sz="1600" b="1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作る</a:t>
            </a:r>
            <a:endParaRPr lang="en-US" sz="1600"/>
          </a:p>
        </p:txBody>
      </p:sp>
      <p:sp>
        <p:nvSpPr>
          <p:cNvPr id="8" name="Text 6"/>
          <p:cNvSpPr/>
          <p:nvPr/>
        </p:nvSpPr>
        <p:spPr>
          <a:xfrm>
            <a:off x="566928" y="2423160"/>
            <a:ext cx="160934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altLang="ja-JP" sz="1200">
                <a:solidFill>
                  <a:srgbClr val="B8C6D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npm create vite@latest</a:t>
            </a:r>
          </a:p>
          <a:p>
            <a:pPr marL="0" indent="0" algn="ctr">
              <a:buNone/>
            </a:pPr>
            <a:r>
              <a:rPr lang="en-US" altLang="ja-JP" sz="1200">
                <a:solidFill>
                  <a:srgbClr val="B8C6D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React </a:t>
            </a:r>
            <a:r>
              <a:rPr lang="ja-JP" altLang="en-US" sz="1200">
                <a:solidFill>
                  <a:srgbClr val="B8C6D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を選択</a:t>
            </a:r>
            <a:endParaRPr lang="en-US" sz="1200"/>
          </a:p>
        </p:txBody>
      </p:sp>
      <p:sp>
        <p:nvSpPr>
          <p:cNvPr id="9" name="流れの矢印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331720" y="2651760"/>
            <a:ext cx="274320" cy="0"/>
          </a:xfrm>
          <a:prstGeom prst="line">
            <a:avLst/>
          </a:prstGeom>
          <a:noFill/>
          <a:ln w="25400">
            <a:solidFill>
              <a:srgbClr val="22D3EE"/>
            </a:solidFill>
            <a:prstDash val="solid"/>
            <a:tailEnd type="triangle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0" name="カード背景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651760" y="1554480"/>
            <a:ext cx="1828800" cy="2194560"/>
          </a:xfrm>
          <a:prstGeom prst="rect">
            <a:avLst/>
          </a:prstGeom>
          <a:solidFill>
            <a:srgbClr val="12294A"/>
          </a:solidFill>
          <a:ln w="12700">
            <a:solidFill>
              <a:srgbClr val="1E3A5F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1" name="番号の円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364992" y="1325880"/>
            <a:ext cx="402336" cy="402336"/>
          </a:xfrm>
          <a:prstGeom prst="ellipse">
            <a:avLst/>
          </a:prstGeom>
          <a:solidFill>
            <a:srgbClr val="22D3EE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2" name="Text 10"/>
          <p:cNvSpPr/>
          <p:nvPr/>
        </p:nvSpPr>
        <p:spPr>
          <a:xfrm>
            <a:off x="3364992" y="132588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0B1B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</a:t>
            </a:r>
            <a:endParaRPr lang="en-US" sz="1300"/>
          </a:p>
        </p:txBody>
      </p:sp>
      <p:sp>
        <p:nvSpPr>
          <p:cNvPr id="13" name="Text 11"/>
          <p:cNvSpPr/>
          <p:nvPr/>
        </p:nvSpPr>
        <p:spPr>
          <a:xfrm>
            <a:off x="2761488" y="1965960"/>
            <a:ext cx="1609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ja-JP" altLang="en-US" sz="1600" b="1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動かす</a:t>
            </a:r>
            <a:endParaRPr lang="en-US" sz="1600"/>
          </a:p>
        </p:txBody>
      </p:sp>
      <p:sp>
        <p:nvSpPr>
          <p:cNvPr id="14" name="Text 12"/>
          <p:cNvSpPr/>
          <p:nvPr/>
        </p:nvSpPr>
        <p:spPr>
          <a:xfrm>
            <a:off x="2761488" y="2423160"/>
            <a:ext cx="160934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>
                <a:solidFill>
                  <a:srgbClr val="B8C6D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npm install</a:t>
            </a:r>
          </a:p>
          <a:p>
            <a:pPr marL="0" indent="0" algn="ctr">
              <a:buNone/>
            </a:pPr>
            <a:r>
              <a:rPr lang="en-US" sz="1200">
                <a:solidFill>
                  <a:srgbClr val="B8C6D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npm run dev </a:t>
            </a:r>
            <a:r>
              <a:rPr lang="ja-JP" altLang="en-US" sz="1200">
                <a:solidFill>
                  <a:srgbClr val="B8C6D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で起動</a:t>
            </a:r>
            <a:endParaRPr lang="en-US" sz="1200"/>
          </a:p>
        </p:txBody>
      </p:sp>
      <p:sp>
        <p:nvSpPr>
          <p:cNvPr id="15" name="流れの矢印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526280" y="2651760"/>
            <a:ext cx="274320" cy="0"/>
          </a:xfrm>
          <a:prstGeom prst="line">
            <a:avLst/>
          </a:prstGeom>
          <a:noFill/>
          <a:ln w="25400">
            <a:solidFill>
              <a:srgbClr val="22D3EE"/>
            </a:solidFill>
            <a:prstDash val="solid"/>
            <a:tailEnd type="triangle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6" name="カード背景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846320" y="1554480"/>
            <a:ext cx="1828800" cy="2194560"/>
          </a:xfrm>
          <a:prstGeom prst="rect">
            <a:avLst/>
          </a:prstGeom>
          <a:solidFill>
            <a:srgbClr val="12294A"/>
          </a:solidFill>
          <a:ln w="12700">
            <a:solidFill>
              <a:srgbClr val="1E3A5F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7" name="番号の円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559552" y="1325880"/>
            <a:ext cx="402336" cy="402336"/>
          </a:xfrm>
          <a:prstGeom prst="ellipse">
            <a:avLst/>
          </a:prstGeom>
          <a:solidFill>
            <a:srgbClr val="22D3EE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8" name="Text 16"/>
          <p:cNvSpPr/>
          <p:nvPr/>
        </p:nvSpPr>
        <p:spPr>
          <a:xfrm>
            <a:off x="5559552" y="132588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0B1B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</a:t>
            </a:r>
            <a:endParaRPr lang="en-US" sz="1300"/>
          </a:p>
        </p:txBody>
      </p:sp>
      <p:sp>
        <p:nvSpPr>
          <p:cNvPr id="19" name="Text 17"/>
          <p:cNvSpPr/>
          <p:nvPr/>
        </p:nvSpPr>
        <p:spPr>
          <a:xfrm>
            <a:off x="4956048" y="1965960"/>
            <a:ext cx="1609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ja-JP" altLang="en-US" sz="1600" b="1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書く</a:t>
            </a:r>
            <a:endParaRPr lang="en-US" sz="1600"/>
          </a:p>
        </p:txBody>
      </p:sp>
      <p:sp>
        <p:nvSpPr>
          <p:cNvPr id="20" name="Text 18"/>
          <p:cNvSpPr/>
          <p:nvPr/>
        </p:nvSpPr>
        <p:spPr>
          <a:xfrm>
            <a:off x="4956048" y="2423160"/>
            <a:ext cx="160934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>
                <a:solidFill>
                  <a:srgbClr val="B8C6D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App.jsx </a:t>
            </a:r>
            <a:r>
              <a:rPr lang="ja-JP" altLang="en-US" sz="1200">
                <a:solidFill>
                  <a:srgbClr val="B8C6D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を編集し</a:t>
            </a:r>
          </a:p>
          <a:p>
            <a:pPr marL="0" indent="0" algn="ctr">
              <a:buNone/>
            </a:pPr>
            <a:r>
              <a:rPr lang="ja-JP" altLang="en-US" sz="1200">
                <a:solidFill>
                  <a:srgbClr val="B8C6D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保存して即反映</a:t>
            </a:r>
            <a:endParaRPr lang="en-US" sz="1200"/>
          </a:p>
        </p:txBody>
      </p:sp>
      <p:sp>
        <p:nvSpPr>
          <p:cNvPr id="21" name="流れの矢印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720840" y="2651760"/>
            <a:ext cx="274320" cy="0"/>
          </a:xfrm>
          <a:prstGeom prst="line">
            <a:avLst/>
          </a:prstGeom>
          <a:noFill/>
          <a:ln w="25400">
            <a:solidFill>
              <a:srgbClr val="22D3EE"/>
            </a:solidFill>
            <a:prstDash val="solid"/>
            <a:tailEnd type="triangle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2" name="カード背景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040880" y="1554480"/>
            <a:ext cx="1828800" cy="2194560"/>
          </a:xfrm>
          <a:prstGeom prst="rect">
            <a:avLst/>
          </a:prstGeom>
          <a:solidFill>
            <a:srgbClr val="12294A"/>
          </a:solidFill>
          <a:ln w="12700">
            <a:solidFill>
              <a:srgbClr val="1E3A5F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23" name="番号の円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754112" y="1325880"/>
            <a:ext cx="402336" cy="402336"/>
          </a:xfrm>
          <a:prstGeom prst="ellipse">
            <a:avLst/>
          </a:prstGeom>
          <a:solidFill>
            <a:srgbClr val="22D3EE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4" name="Text 22"/>
          <p:cNvSpPr/>
          <p:nvPr/>
        </p:nvSpPr>
        <p:spPr>
          <a:xfrm>
            <a:off x="7754112" y="132588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0B1B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4</a:t>
            </a:r>
            <a:endParaRPr lang="en-US" sz="1300"/>
          </a:p>
        </p:txBody>
      </p:sp>
      <p:sp>
        <p:nvSpPr>
          <p:cNvPr id="25" name="Text 23"/>
          <p:cNvSpPr/>
          <p:nvPr/>
        </p:nvSpPr>
        <p:spPr>
          <a:xfrm>
            <a:off x="7150608" y="1965960"/>
            <a:ext cx="1609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ja-JP" altLang="en-US" sz="1600" b="1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広げる</a:t>
            </a:r>
            <a:endParaRPr lang="en-US" sz="1600"/>
          </a:p>
        </p:txBody>
      </p:sp>
      <p:sp>
        <p:nvSpPr>
          <p:cNvPr id="26" name="Text 24"/>
          <p:cNvSpPr/>
          <p:nvPr/>
        </p:nvSpPr>
        <p:spPr>
          <a:xfrm>
            <a:off x="7150608" y="2423160"/>
            <a:ext cx="160934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ja-JP" altLang="en-US" sz="1200">
                <a:solidFill>
                  <a:srgbClr val="B8C6D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部品を切り出し</a:t>
            </a:r>
          </a:p>
          <a:p>
            <a:pPr marL="0" indent="0" algn="ctr">
              <a:buNone/>
            </a:pPr>
            <a:r>
              <a:rPr lang="ja-JP" altLang="en-US" sz="1200">
                <a:solidFill>
                  <a:srgbClr val="B8C6D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ファイルを分ける</a:t>
            </a:r>
            <a:endParaRPr lang="en-US" sz="1200"/>
          </a:p>
        </p:txBody>
      </p:sp>
      <p:sp>
        <p:nvSpPr>
          <p:cNvPr id="27" name="Text 25"/>
          <p:cNvSpPr/>
          <p:nvPr/>
        </p:nvSpPr>
        <p:spPr>
          <a:xfrm>
            <a:off x="548640" y="406908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ja-JP" altLang="en-US" sz="1400">
                <a:solidFill>
                  <a:srgbClr val="22D3E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保存した瞬間にブラウザが更新される。この速さが</a:t>
            </a:r>
            <a:r>
              <a:rPr lang="en-US" sz="1400">
                <a:solidFill>
                  <a:srgbClr val="22D3E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React</a:t>
            </a:r>
            <a:r>
              <a:rPr lang="ja-JP" altLang="en-US" sz="1400">
                <a:solidFill>
                  <a:srgbClr val="22D3E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を学ぶ一番の気持ちよさ。</a:t>
            </a:r>
            <a:endParaRPr lang="en-US" sz="14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347472"/>
            <a:ext cx="8138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ja-JP" altLang="en-US" sz="2800" b="1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その前に：</a:t>
            </a:r>
            <a:r>
              <a:rPr lang="en-US" sz="2800" b="1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npm </a:t>
            </a:r>
            <a:r>
              <a:rPr lang="ja-JP" altLang="en-US" sz="2800" b="1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とは何か</a:t>
            </a:r>
            <a:endParaRPr lang="en-US" sz="2800"/>
          </a:p>
        </p:txBody>
      </p:sp>
      <p:sp>
        <p:nvSpPr>
          <p:cNvPr id="3" name="見出し下線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8640" y="1060704"/>
            <a:ext cx="2743200" cy="0"/>
          </a:xfrm>
          <a:prstGeom prst="line">
            <a:avLst/>
          </a:prstGeom>
          <a:noFill/>
          <a:ln w="25400">
            <a:solidFill>
              <a:srgbClr val="22D3EE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" name="Text 2"/>
          <p:cNvSpPr/>
          <p:nvPr/>
        </p:nvSpPr>
        <p:spPr>
          <a:xfrm>
            <a:off x="548640" y="132588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800"/>
              </a:lnSpc>
              <a:buNone/>
            </a:pPr>
            <a:r>
              <a:rPr lang="ja-JP" altLang="en-US" sz="1800">
                <a:solidFill>
                  <a:srgbClr val="22D3E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ひとことで言うと：「他の人が作った部品をダウンロードして管理する道具」</a:t>
            </a:r>
            <a:endParaRPr lang="en-US" sz="1800"/>
          </a:p>
        </p:txBody>
      </p:sp>
      <p:sp>
        <p:nvSpPr>
          <p:cNvPr id="5" name="カード背景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8640" y="2331720"/>
            <a:ext cx="8046720" cy="2103120"/>
          </a:xfrm>
          <a:prstGeom prst="rect">
            <a:avLst/>
          </a:prstGeom>
          <a:solidFill>
            <a:srgbClr val="12294A"/>
          </a:solidFill>
          <a:ln w="12700">
            <a:solidFill>
              <a:srgbClr val="1E3A5F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6" name="Text 4"/>
          <p:cNvSpPr/>
          <p:nvPr/>
        </p:nvSpPr>
        <p:spPr>
          <a:xfrm>
            <a:off x="914400" y="2560320"/>
            <a:ext cx="73152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altLang="ja-JP" sz="150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Node Package Manager </a:t>
            </a:r>
            <a:r>
              <a:rPr lang="ja-JP" altLang="en-US" sz="150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の略。</a:t>
            </a:r>
            <a:r>
              <a:rPr lang="en-US" altLang="ja-JP" sz="150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Node.js </a:t>
            </a:r>
            <a:r>
              <a:rPr lang="ja-JP" altLang="en-US" sz="150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を入れると一緒に付いてくる</a:t>
            </a:r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altLang="ja-JP" sz="150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npm install </a:t>
            </a:r>
            <a:r>
              <a:rPr lang="ja-JP" altLang="en-US" sz="150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で、</a:t>
            </a:r>
            <a:r>
              <a:rPr lang="en-US" altLang="ja-JP" sz="150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React </a:t>
            </a:r>
            <a:r>
              <a:rPr lang="ja-JP" altLang="en-US" sz="150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などの部品を丸ごと持ってきて </a:t>
            </a:r>
            <a:r>
              <a:rPr lang="en-US" altLang="ja-JP" sz="150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node_modules </a:t>
            </a:r>
            <a:r>
              <a:rPr lang="ja-JP" altLang="en-US" sz="150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に置く</a:t>
            </a:r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ja-JP" altLang="en-US" sz="150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何をどのバージョン使うかは </a:t>
            </a:r>
            <a:r>
              <a:rPr lang="en-US" altLang="ja-JP" sz="150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package.json </a:t>
            </a:r>
            <a:r>
              <a:rPr lang="ja-JP" altLang="en-US" sz="150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に記録される（共有もこれ</a:t>
            </a:r>
            <a:r>
              <a:rPr lang="en-US" altLang="ja-JP" sz="150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</a:t>
            </a:r>
            <a:r>
              <a:rPr lang="ja-JP" altLang="en-US" sz="150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つで</a:t>
            </a:r>
            <a:r>
              <a:rPr lang="en-US" altLang="ja-JP" sz="150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OK</a:t>
            </a:r>
            <a:r>
              <a:rPr lang="ja-JP" altLang="en-US" sz="150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）</a:t>
            </a:r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altLang="ja-JP" sz="150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npm run dev </a:t>
            </a:r>
            <a:r>
              <a:rPr lang="ja-JP" altLang="en-US" sz="150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のように、決めておいた作業を名前で呼び出すこともできる</a:t>
            </a:r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ja-JP" altLang="en-US" sz="150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イメージ：ライブラリの貸出カウンター。必要な本を頼めば揃えてくれる</a:t>
            </a:r>
            <a:endParaRPr lang="en-US" sz="15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347472"/>
            <a:ext cx="8138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ja-JP" altLang="en-US" sz="2800" b="1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環境構築：ターミナルで打つコマンド</a:t>
            </a:r>
            <a:endParaRPr lang="en-US" sz="2800"/>
          </a:p>
        </p:txBody>
      </p:sp>
      <p:sp>
        <p:nvSpPr>
          <p:cNvPr id="3" name="見出し下線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8640" y="1060704"/>
            <a:ext cx="2743200" cy="0"/>
          </a:xfrm>
          <a:prstGeom prst="line">
            <a:avLst/>
          </a:prstGeom>
          <a:noFill/>
          <a:ln w="25400">
            <a:solidFill>
              <a:srgbClr val="22D3EE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" name="Text 2"/>
          <p:cNvSpPr/>
          <p:nvPr/>
        </p:nvSpPr>
        <p:spPr>
          <a:xfrm>
            <a:off x="548640" y="128016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800"/>
              </a:lnSpc>
              <a:buNone/>
            </a:pPr>
            <a:r>
              <a:rPr lang="ja-JP" altLang="en-US" sz="1800">
                <a:solidFill>
                  <a:srgbClr val="22D3E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ゴール：ブラウザに </a:t>
            </a:r>
            <a:r>
              <a:rPr lang="en-US" altLang="ja-JP" sz="1800">
                <a:solidFill>
                  <a:srgbClr val="22D3E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React </a:t>
            </a:r>
            <a:r>
              <a:rPr lang="ja-JP" altLang="en-US" sz="1800">
                <a:solidFill>
                  <a:srgbClr val="22D3E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の初期画面が表示されるところまで</a:t>
            </a:r>
            <a:endParaRPr lang="en-US" sz="1800"/>
          </a:p>
        </p:txBody>
      </p:sp>
      <p:sp>
        <p:nvSpPr>
          <p:cNvPr id="5" name="カード背景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8640" y="1874520"/>
            <a:ext cx="8046720" cy="3017520"/>
          </a:xfrm>
          <a:prstGeom prst="rect">
            <a:avLst/>
          </a:prstGeom>
          <a:solidFill>
            <a:srgbClr val="12294A"/>
          </a:solidFill>
          <a:ln w="12700">
            <a:solidFill>
              <a:srgbClr val="1E3A5F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6" name="Text 4"/>
          <p:cNvSpPr/>
          <p:nvPr/>
        </p:nvSpPr>
        <p:spPr>
          <a:xfrm>
            <a:off x="914400" y="1965960"/>
            <a:ext cx="7315200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200"/>
              </a:spcAft>
              <a:buNone/>
            </a:pPr>
            <a:r>
              <a:rPr lang="en-US" altLang="ja-JP" sz="1200">
                <a:solidFill>
                  <a:srgbClr val="8FA8C4"/>
                </a:solidFill>
                <a:latin typeface="Consolas" pitchFamily="49" charset="0"/>
                <a:ea typeface="Yu Gothic" pitchFamily="34" charset="-122"/>
                <a:cs typeface="Consolas" pitchFamily="49" charset="0"/>
              </a:rPr>
              <a:t># 1. プロジェクトを作る（react → JavaScript を選択）</a:t>
            </a:r>
            <a:endParaRPr lang="en-US" sz="1200"/>
          </a:p>
          <a:p>
            <a:pPr marL="0" indent="0">
              <a:spcAft>
                <a:spcPts val="200"/>
              </a:spcAft>
              <a:buNone/>
            </a:pPr>
            <a:r>
              <a:rPr lang="en-US" altLang="ja-JP" sz="1200">
                <a:solidFill>
                  <a:srgbClr val="FFFFFF"/>
                </a:solidFill>
                <a:latin typeface="Consolas" pitchFamily="49" charset="0"/>
                <a:ea typeface="Yu Gothic" pitchFamily="34" charset="-122"/>
                <a:cs typeface="Consolas" pitchFamily="49" charset="0"/>
              </a:rPr>
              <a:t>npm create vite@latest my-todo -- --template react</a:t>
            </a:r>
            <a:endParaRPr lang="en-US" sz="1200"/>
          </a:p>
          <a:p>
            <a:pPr marL="0" indent="0">
              <a:spcAft>
                <a:spcPts val="200"/>
              </a:spcAft>
              <a:buNone/>
            </a:pPr>
            <a:endParaRPr lang="en-US" sz="1200"/>
          </a:p>
          <a:p>
            <a:pPr marL="0" indent="0">
              <a:spcAft>
                <a:spcPts val="200"/>
              </a:spcAft>
              <a:buNone/>
            </a:pPr>
            <a:r>
              <a:rPr lang="en-US" altLang="ja-JP" sz="1200">
                <a:solidFill>
                  <a:srgbClr val="8FA8C4"/>
                </a:solidFill>
                <a:latin typeface="Consolas" pitchFamily="49" charset="0"/>
                <a:ea typeface="Yu Gothic" pitchFamily="34" charset="-122"/>
                <a:cs typeface="Consolas" pitchFamily="49" charset="0"/>
              </a:rPr>
              <a:t># 2. フォルダに入って必要な部品を入れる</a:t>
            </a:r>
            <a:endParaRPr lang="en-US" sz="1200"/>
          </a:p>
          <a:p>
            <a:pPr marL="0" indent="0">
              <a:spcAft>
                <a:spcPts val="200"/>
              </a:spcAft>
              <a:buNone/>
            </a:pPr>
            <a:r>
              <a:rPr lang="en-US" altLang="ja-JP" sz="1200">
                <a:solidFill>
                  <a:srgbClr val="FFFFFF"/>
                </a:solidFill>
                <a:latin typeface="Consolas" pitchFamily="49" charset="0"/>
                <a:ea typeface="Yu Gothic" pitchFamily="34" charset="-122"/>
                <a:cs typeface="Consolas" pitchFamily="49" charset="0"/>
              </a:rPr>
              <a:t>cd my-todo</a:t>
            </a:r>
            <a:endParaRPr lang="en-US" sz="1200"/>
          </a:p>
          <a:p>
            <a:pPr marL="0" indent="0">
              <a:spcAft>
                <a:spcPts val="200"/>
              </a:spcAft>
              <a:buNone/>
            </a:pPr>
            <a:r>
              <a:rPr lang="en-US" altLang="ja-JP" sz="1200">
                <a:solidFill>
                  <a:srgbClr val="FFFFFF"/>
                </a:solidFill>
                <a:latin typeface="Consolas" pitchFamily="49" charset="0"/>
                <a:ea typeface="Yu Gothic" pitchFamily="34" charset="-122"/>
                <a:cs typeface="Consolas" pitchFamily="49" charset="0"/>
              </a:rPr>
              <a:t>npm install</a:t>
            </a:r>
            <a:endParaRPr lang="en-US" sz="1200"/>
          </a:p>
          <a:p>
            <a:pPr marL="0" indent="0">
              <a:spcAft>
                <a:spcPts val="200"/>
              </a:spcAft>
              <a:buNone/>
            </a:pPr>
            <a:endParaRPr lang="en-US" sz="1200"/>
          </a:p>
          <a:p>
            <a:pPr marL="0" indent="0">
              <a:spcAft>
                <a:spcPts val="200"/>
              </a:spcAft>
              <a:buNone/>
            </a:pPr>
            <a:r>
              <a:rPr lang="en-US" altLang="ja-JP" sz="1200">
                <a:solidFill>
                  <a:srgbClr val="8FA8C4"/>
                </a:solidFill>
                <a:latin typeface="Consolas" pitchFamily="49" charset="0"/>
                <a:ea typeface="Yu Gothic" pitchFamily="34" charset="-122"/>
                <a:cs typeface="Consolas" pitchFamily="49" charset="0"/>
              </a:rPr>
              <a:t># 3. 開発サーバーを起動（http://localhost:5173 が開く）</a:t>
            </a:r>
            <a:endParaRPr lang="en-US" sz="1200"/>
          </a:p>
          <a:p>
            <a:pPr marL="0" indent="0">
              <a:spcAft>
                <a:spcPts val="200"/>
              </a:spcAft>
              <a:buNone/>
            </a:pPr>
            <a:r>
              <a:rPr lang="en-US" altLang="ja-JP" sz="1200">
                <a:solidFill>
                  <a:srgbClr val="FFFFFF"/>
                </a:solidFill>
                <a:latin typeface="Consolas" pitchFamily="49" charset="0"/>
                <a:ea typeface="Yu Gothic" pitchFamily="34" charset="-122"/>
                <a:cs typeface="Consolas" pitchFamily="49" charset="0"/>
              </a:rPr>
              <a:t>npm run dev</a:t>
            </a:r>
            <a:endParaRPr lang="en-US" sz="1200"/>
          </a:p>
          <a:p>
            <a:pPr marL="0" indent="0">
              <a:spcAft>
                <a:spcPts val="200"/>
              </a:spcAft>
              <a:buNone/>
            </a:pPr>
            <a:endParaRPr lang="en-US" sz="1200"/>
          </a:p>
          <a:p>
            <a:pPr marL="0" indent="0">
              <a:spcAft>
                <a:spcPts val="200"/>
              </a:spcAft>
              <a:buNone/>
            </a:pPr>
            <a:r>
              <a:rPr lang="en-US" altLang="ja-JP" sz="1200">
                <a:solidFill>
                  <a:srgbClr val="8FA8C4"/>
                </a:solidFill>
                <a:latin typeface="Consolas" pitchFamily="49" charset="0"/>
                <a:ea typeface="Yu Gothic" pitchFamily="34" charset="-122"/>
                <a:cs typeface="Consolas" pitchFamily="49" charset="0"/>
              </a:rPr>
              <a:t># 止めるときは Ctrl + C。編集して保存すると自動で再読み込み</a:t>
            </a:r>
            <a:endParaRPr lang="en-US" sz="15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347472"/>
            <a:ext cx="8138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STEP1：</a:t>
            </a:r>
            <a:r>
              <a:rPr lang="ja-JP" altLang="en-US" sz="2800" b="1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コンポーネントを書く</a:t>
            </a:r>
            <a:endParaRPr lang="en-US" sz="2800"/>
          </a:p>
        </p:txBody>
      </p:sp>
      <p:sp>
        <p:nvSpPr>
          <p:cNvPr id="3" name="見出し下線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8640" y="1060704"/>
            <a:ext cx="2743200" cy="0"/>
          </a:xfrm>
          <a:prstGeom prst="line">
            <a:avLst/>
          </a:prstGeom>
          <a:noFill/>
          <a:ln w="25400">
            <a:solidFill>
              <a:srgbClr val="22D3EE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" name="Text 2"/>
          <p:cNvSpPr/>
          <p:nvPr/>
        </p:nvSpPr>
        <p:spPr>
          <a:xfrm>
            <a:off x="548640" y="132588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800"/>
              </a:lnSpc>
              <a:buNone/>
            </a:pPr>
            <a:r>
              <a:rPr lang="ja-JP" altLang="en-US" sz="1800">
                <a:solidFill>
                  <a:srgbClr val="22D3E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ゴール：「</a:t>
            </a:r>
            <a:r>
              <a:rPr lang="en-US" altLang="ja-JP" sz="1800">
                <a:solidFill>
                  <a:srgbClr val="22D3E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HTML</a:t>
            </a:r>
            <a:r>
              <a:rPr lang="ja-JP" altLang="en-US" sz="1800">
                <a:solidFill>
                  <a:srgbClr val="22D3E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を返す関数」を</a:t>
            </a:r>
            <a:r>
              <a:rPr lang="en-US" altLang="ja-JP" sz="1800">
                <a:solidFill>
                  <a:srgbClr val="22D3E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</a:t>
            </a:r>
            <a:r>
              <a:rPr lang="ja-JP" altLang="en-US" sz="1800">
                <a:solidFill>
                  <a:srgbClr val="22D3E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つ作り、</a:t>
            </a:r>
            <a:r>
              <a:rPr lang="en-US" altLang="ja-JP" sz="1800">
                <a:solidFill>
                  <a:srgbClr val="22D3E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App </a:t>
            </a:r>
            <a:r>
              <a:rPr lang="ja-JP" altLang="en-US" sz="1800">
                <a:solidFill>
                  <a:srgbClr val="22D3E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から呼び出して画面に出す</a:t>
            </a:r>
            <a:endParaRPr lang="en-US" sz="1800"/>
          </a:p>
        </p:txBody>
      </p:sp>
      <p:sp>
        <p:nvSpPr>
          <p:cNvPr id="5" name="カード背景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8640" y="2331720"/>
            <a:ext cx="8046720" cy="2103120"/>
          </a:xfrm>
          <a:prstGeom prst="rect">
            <a:avLst/>
          </a:prstGeom>
          <a:solidFill>
            <a:srgbClr val="12294A"/>
          </a:solidFill>
          <a:ln w="12700">
            <a:solidFill>
              <a:srgbClr val="1E3A5F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6" name="Text 4"/>
          <p:cNvSpPr/>
          <p:nvPr/>
        </p:nvSpPr>
        <p:spPr>
          <a:xfrm>
            <a:off x="914400" y="2560320"/>
            <a:ext cx="73152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altLang="ja-JP" sz="150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function TodoItem(props) { return &lt;li&gt;{props.text}&lt;/li&gt; } </a:t>
            </a:r>
            <a:r>
              <a:rPr lang="ja-JP" altLang="en-US" sz="150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と書くだけ</a:t>
            </a:r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ja-JP" altLang="en-US" sz="150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呼び出しは </a:t>
            </a:r>
            <a:r>
              <a:rPr lang="en-US" altLang="ja-JP" sz="150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&lt;TodoItem text="</a:t>
            </a:r>
            <a:r>
              <a:rPr lang="ja-JP" altLang="en-US" sz="150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買い物</a:t>
            </a:r>
            <a:r>
              <a:rPr lang="en-US" altLang="ja-JP" sz="150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" /&gt;</a:t>
            </a:r>
            <a:r>
              <a:rPr lang="ja-JP" altLang="en-US" sz="150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。関数呼び出しと同じ感覚</a:t>
            </a:r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altLang="ja-JP" sz="150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{ } </a:t>
            </a:r>
            <a:r>
              <a:rPr lang="ja-JP" altLang="en-US" sz="150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の中には </a:t>
            </a:r>
            <a:r>
              <a:rPr lang="en-US" altLang="ja-JP" sz="150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JavaScript </a:t>
            </a:r>
            <a:r>
              <a:rPr lang="ja-JP" altLang="en-US" sz="150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の式がそのまま書ける</a:t>
            </a:r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ja-JP" altLang="en-US" sz="150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練習：件数表示の部分を別のコンポーネントに切り出してみる</a:t>
            </a:r>
            <a:endParaRPr lang="en-US" sz="15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347472"/>
            <a:ext cx="8138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STEP1 </a:t>
            </a:r>
            <a:r>
              <a:rPr lang="ja-JP" altLang="en-US" sz="2800" b="1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のコード：</a:t>
            </a:r>
            <a:r>
              <a:rPr lang="en-US" sz="2800" b="1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App.jsx </a:t>
            </a:r>
            <a:r>
              <a:rPr lang="ja-JP" altLang="en-US" sz="2800" b="1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全文</a:t>
            </a:r>
            <a:endParaRPr lang="en-US" sz="2800"/>
          </a:p>
        </p:txBody>
      </p:sp>
      <p:sp>
        <p:nvSpPr>
          <p:cNvPr id="3" name="見出し下線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8640" y="1060704"/>
            <a:ext cx="2743200" cy="0"/>
          </a:xfrm>
          <a:prstGeom prst="line">
            <a:avLst/>
          </a:prstGeom>
          <a:noFill/>
          <a:ln w="25400">
            <a:solidFill>
              <a:srgbClr val="22D3EE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" name="Text 2"/>
          <p:cNvSpPr/>
          <p:nvPr/>
        </p:nvSpPr>
        <p:spPr>
          <a:xfrm>
            <a:off x="548640" y="128016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800"/>
              </a:lnSpc>
              <a:buNone/>
            </a:pPr>
            <a:r>
              <a:rPr lang="ja-JP" altLang="en-US" sz="1800">
                <a:solidFill>
                  <a:srgbClr val="22D3E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ゴール：部品（</a:t>
            </a:r>
            <a:r>
              <a:rPr lang="en-US" altLang="ja-JP" sz="1800">
                <a:solidFill>
                  <a:srgbClr val="22D3E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TodoItem</a:t>
            </a:r>
            <a:r>
              <a:rPr lang="ja-JP" altLang="en-US" sz="1800">
                <a:solidFill>
                  <a:srgbClr val="22D3E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）を作って、一覧として画面に出す</a:t>
            </a:r>
            <a:endParaRPr lang="en-US" sz="1800"/>
          </a:p>
        </p:txBody>
      </p:sp>
      <p:sp>
        <p:nvSpPr>
          <p:cNvPr id="5" name="カード背景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8640" y="1874520"/>
            <a:ext cx="8046720" cy="3017520"/>
          </a:xfrm>
          <a:prstGeom prst="rect">
            <a:avLst/>
          </a:prstGeom>
          <a:solidFill>
            <a:srgbClr val="12294A"/>
          </a:solidFill>
          <a:ln w="12700">
            <a:solidFill>
              <a:srgbClr val="1E3A5F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6" name="Text 4"/>
          <p:cNvSpPr/>
          <p:nvPr/>
        </p:nvSpPr>
        <p:spPr>
          <a:xfrm>
            <a:off x="914400" y="1965960"/>
            <a:ext cx="7315200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200"/>
              </a:spcAft>
              <a:buNone/>
            </a:pPr>
            <a:r>
              <a:rPr lang="en-US" altLang="ja-JP" sz="1150">
                <a:solidFill>
                  <a:srgbClr val="8FA8C4"/>
                </a:solidFill>
                <a:latin typeface="Consolas" pitchFamily="49" charset="0"/>
                <a:ea typeface="Yu Gothic" pitchFamily="34" charset="-122"/>
                <a:cs typeface="Consolas" pitchFamily="49" charset="0"/>
              </a:rPr>
              <a:t>// src/App.jsx</a:t>
            </a:r>
            <a:endParaRPr lang="en-US" sz="1150"/>
          </a:p>
          <a:p>
            <a:pPr marL="0" indent="0">
              <a:spcAft>
                <a:spcPts val="200"/>
              </a:spcAft>
              <a:buNone/>
            </a:pPr>
            <a:r>
              <a:rPr lang="en-US" altLang="ja-JP" sz="1150">
                <a:solidFill>
                  <a:srgbClr val="FFFFFF"/>
                </a:solidFill>
                <a:latin typeface="Consolas" pitchFamily="49" charset="0"/>
                <a:ea typeface="Yu Gothic" pitchFamily="34" charset="-122"/>
                <a:cs typeface="Consolas" pitchFamily="49" charset="0"/>
              </a:rPr>
              <a:t>function TodoItem({ text }) {          // 部品＝HTMLを返す関数</a:t>
            </a:r>
            <a:endParaRPr lang="en-US" sz="1150"/>
          </a:p>
          <a:p>
            <a:pPr marL="0" indent="0">
              <a:spcAft>
                <a:spcPts val="200"/>
              </a:spcAft>
              <a:buNone/>
            </a:pPr>
            <a:r>
              <a:rPr lang="en-US" altLang="ja-JP" sz="1150">
                <a:solidFill>
                  <a:srgbClr val="FFFFFF"/>
                </a:solidFill>
                <a:latin typeface="Consolas" pitchFamily="49" charset="0"/>
                <a:ea typeface="Yu Gothic" pitchFamily="34" charset="-122"/>
                <a:cs typeface="Consolas" pitchFamily="49" charset="0"/>
              </a:rPr>
              <a:t>  return &lt;li&gt;{text}&lt;/li&gt;;              // { } の中はJSの式</a:t>
            </a:r>
            <a:endParaRPr lang="en-US" sz="1150"/>
          </a:p>
          <a:p>
            <a:pPr marL="0" indent="0">
              <a:spcAft>
                <a:spcPts val="200"/>
              </a:spcAft>
              <a:buNone/>
            </a:pPr>
            <a:r>
              <a:rPr lang="en-US" altLang="ja-JP" sz="1150">
                <a:solidFill>
                  <a:srgbClr val="FFFFFF"/>
                </a:solidFill>
                <a:latin typeface="Consolas" pitchFamily="49" charset="0"/>
                <a:ea typeface="Yu Gothic" pitchFamily="34" charset="-122"/>
                <a:cs typeface="Consolas" pitchFamily="49" charset="0"/>
              </a:rPr>
              <a:t>}</a:t>
            </a:r>
            <a:endParaRPr lang="en-US" sz="1150"/>
          </a:p>
          <a:p>
            <a:pPr marL="0" indent="0">
              <a:spcAft>
                <a:spcPts val="200"/>
              </a:spcAft>
              <a:buNone/>
            </a:pPr>
            <a:endParaRPr lang="en-US" sz="1150"/>
          </a:p>
          <a:p>
            <a:pPr marL="0" indent="0">
              <a:spcAft>
                <a:spcPts val="200"/>
              </a:spcAft>
              <a:buNone/>
            </a:pPr>
            <a:r>
              <a:rPr lang="en-US" altLang="ja-JP" sz="1150">
                <a:solidFill>
                  <a:srgbClr val="FFFFFF"/>
                </a:solidFill>
                <a:latin typeface="Consolas" pitchFamily="49" charset="0"/>
                <a:ea typeface="Yu Gothic" pitchFamily="34" charset="-122"/>
                <a:cs typeface="Consolas" pitchFamily="49" charset="0"/>
              </a:rPr>
              <a:t>export default function App() {</a:t>
            </a:r>
            <a:endParaRPr lang="en-US" sz="1150"/>
          </a:p>
          <a:p>
            <a:pPr marL="0" indent="0">
              <a:spcAft>
                <a:spcPts val="200"/>
              </a:spcAft>
              <a:buNone/>
            </a:pPr>
            <a:r>
              <a:rPr lang="en-US" altLang="ja-JP" sz="1150">
                <a:solidFill>
                  <a:srgbClr val="FFFFFF"/>
                </a:solidFill>
                <a:latin typeface="Consolas" pitchFamily="49" charset="0"/>
                <a:ea typeface="Yu Gothic" pitchFamily="34" charset="-122"/>
                <a:cs typeface="Consolas" pitchFamily="49" charset="0"/>
              </a:rPr>
              <a:t>  const items = ['牛乳を買う', 'レポート提出'];</a:t>
            </a:r>
            <a:endParaRPr lang="en-US" sz="1150"/>
          </a:p>
          <a:p>
            <a:pPr marL="0" indent="0">
              <a:spcAft>
                <a:spcPts val="200"/>
              </a:spcAft>
              <a:buNone/>
            </a:pPr>
            <a:r>
              <a:rPr lang="en-US" altLang="ja-JP" sz="1150">
                <a:solidFill>
                  <a:srgbClr val="FFFFFF"/>
                </a:solidFill>
                <a:latin typeface="Consolas" pitchFamily="49" charset="0"/>
                <a:ea typeface="Yu Gothic" pitchFamily="34" charset="-122"/>
                <a:cs typeface="Consolas" pitchFamily="49" charset="0"/>
              </a:rPr>
              <a:t>  return (</a:t>
            </a:r>
            <a:endParaRPr lang="en-US" sz="1150"/>
          </a:p>
          <a:p>
            <a:pPr marL="0" indent="0">
              <a:spcAft>
                <a:spcPts val="200"/>
              </a:spcAft>
              <a:buNone/>
            </a:pPr>
            <a:r>
              <a:rPr lang="en-US" altLang="ja-JP" sz="1150">
                <a:solidFill>
                  <a:srgbClr val="FFFFFF"/>
                </a:solidFill>
                <a:latin typeface="Consolas" pitchFamily="49" charset="0"/>
                <a:ea typeface="Yu Gothic" pitchFamily="34" charset="-122"/>
                <a:cs typeface="Consolas" pitchFamily="49" charset="0"/>
              </a:rPr>
              <a:t>    &lt;ul&gt;</a:t>
            </a:r>
            <a:endParaRPr lang="en-US" sz="1150"/>
          </a:p>
          <a:p>
            <a:pPr marL="0" indent="0">
              <a:spcAft>
                <a:spcPts val="200"/>
              </a:spcAft>
              <a:buNone/>
            </a:pPr>
            <a:r>
              <a:rPr lang="en-US" altLang="ja-JP" sz="1150">
                <a:solidFill>
                  <a:srgbClr val="FFFFFF"/>
                </a:solidFill>
                <a:latin typeface="Consolas" pitchFamily="49" charset="0"/>
                <a:ea typeface="Yu Gothic" pitchFamily="34" charset="-122"/>
                <a:cs typeface="Consolas" pitchFamily="49" charset="0"/>
              </a:rPr>
              <a:t>      {items.map((t, i) =&gt; &lt;TodoItem key={i} text={t} /&gt;)}</a:t>
            </a:r>
            <a:endParaRPr lang="en-US" sz="1150"/>
          </a:p>
          <a:p>
            <a:pPr marL="0" indent="0">
              <a:spcAft>
                <a:spcPts val="200"/>
              </a:spcAft>
              <a:buNone/>
            </a:pPr>
            <a:r>
              <a:rPr lang="en-US" altLang="ja-JP" sz="1150">
                <a:solidFill>
                  <a:srgbClr val="FFFFFF"/>
                </a:solidFill>
                <a:latin typeface="Consolas" pitchFamily="49" charset="0"/>
                <a:ea typeface="Yu Gothic" pitchFamily="34" charset="-122"/>
                <a:cs typeface="Consolas" pitchFamily="49" charset="0"/>
              </a:rPr>
              <a:t>    &lt;/ul&gt;</a:t>
            </a:r>
            <a:endParaRPr lang="en-US" sz="1150"/>
          </a:p>
          <a:p>
            <a:pPr marL="0" indent="0">
              <a:spcAft>
                <a:spcPts val="200"/>
              </a:spcAft>
              <a:buNone/>
            </a:pPr>
            <a:r>
              <a:rPr lang="en-US" altLang="ja-JP" sz="1150">
                <a:solidFill>
                  <a:srgbClr val="FFFFFF"/>
                </a:solidFill>
                <a:latin typeface="Consolas" pitchFamily="49" charset="0"/>
                <a:ea typeface="Yu Gothic" pitchFamily="34" charset="-122"/>
                <a:cs typeface="Consolas" pitchFamily="49" charset="0"/>
              </a:rPr>
              <a:t>  );</a:t>
            </a:r>
            <a:endParaRPr lang="en-US" sz="1150"/>
          </a:p>
          <a:p>
            <a:pPr marL="0" indent="0">
              <a:spcAft>
                <a:spcPts val="200"/>
              </a:spcAft>
              <a:buNone/>
            </a:pPr>
            <a:r>
              <a:rPr lang="en-US" altLang="ja-JP" sz="1150">
                <a:solidFill>
                  <a:srgbClr val="FFFFFF"/>
                </a:solidFill>
                <a:latin typeface="Consolas" pitchFamily="49" charset="0"/>
                <a:ea typeface="Yu Gothic" pitchFamily="34" charset="-122"/>
                <a:cs typeface="Consolas" pitchFamily="49" charset="0"/>
              </a:rPr>
              <a:t>}</a:t>
            </a:r>
            <a:endParaRPr lang="en-US" sz="15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347472"/>
            <a:ext cx="8138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STEP2：state </a:t>
            </a:r>
            <a:r>
              <a:rPr lang="ja-JP" altLang="en-US" sz="2800" b="1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で画面を動かす</a:t>
            </a:r>
            <a:endParaRPr lang="en-US" sz="2800"/>
          </a:p>
        </p:txBody>
      </p:sp>
      <p:sp>
        <p:nvSpPr>
          <p:cNvPr id="3" name="見出し下線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8640" y="1060704"/>
            <a:ext cx="2743200" cy="0"/>
          </a:xfrm>
          <a:prstGeom prst="line">
            <a:avLst/>
          </a:prstGeom>
          <a:noFill/>
          <a:ln w="25400">
            <a:solidFill>
              <a:srgbClr val="22D3EE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" name="Text 2"/>
          <p:cNvSpPr/>
          <p:nvPr/>
        </p:nvSpPr>
        <p:spPr>
          <a:xfrm>
            <a:off x="548640" y="132588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800"/>
              </a:lnSpc>
              <a:buNone/>
            </a:pPr>
            <a:r>
              <a:rPr lang="ja-JP" altLang="en-US" sz="1800">
                <a:solidFill>
                  <a:srgbClr val="22D3E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ゴール：入力した文字を配列に追加し、一覧が自動で増えることを確認する</a:t>
            </a:r>
            <a:endParaRPr lang="en-US" sz="1800"/>
          </a:p>
        </p:txBody>
      </p:sp>
      <p:sp>
        <p:nvSpPr>
          <p:cNvPr id="5" name="カード背景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8640" y="2331720"/>
            <a:ext cx="8046720" cy="2103120"/>
          </a:xfrm>
          <a:prstGeom prst="rect">
            <a:avLst/>
          </a:prstGeom>
          <a:solidFill>
            <a:srgbClr val="12294A"/>
          </a:solidFill>
          <a:ln w="12700">
            <a:solidFill>
              <a:srgbClr val="1E3A5F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6" name="Text 4"/>
          <p:cNvSpPr/>
          <p:nvPr/>
        </p:nvSpPr>
        <p:spPr>
          <a:xfrm>
            <a:off x="914400" y="2560320"/>
            <a:ext cx="73152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altLang="ja-JP" sz="150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const [todos, setTodos] = useState([]) </a:t>
            </a:r>
            <a:r>
              <a:rPr lang="ja-JP" altLang="en-US" sz="150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で変化するデータを持つ</a:t>
            </a:r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altLang="ja-JP" sz="150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setTodos([...todos, </a:t>
            </a:r>
            <a:r>
              <a:rPr lang="ja-JP" altLang="en-US" sz="150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新しい値</a:t>
            </a:r>
            <a:r>
              <a:rPr lang="en-US" altLang="ja-JP" sz="150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]) </a:t>
            </a:r>
            <a:r>
              <a:rPr lang="ja-JP" altLang="en-US" sz="150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で更新。直接 </a:t>
            </a:r>
            <a:r>
              <a:rPr lang="en-US" altLang="ja-JP" sz="150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push </a:t>
            </a:r>
            <a:r>
              <a:rPr lang="ja-JP" altLang="en-US" sz="150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はしない</a:t>
            </a:r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ja-JP" altLang="en-US" sz="150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更新すると、その配列を使っている部分だけ描き直される</a:t>
            </a:r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ja-JP" altLang="en-US" sz="150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練習：完了フラグを持たせ、クリックで取り消し線を付ける</a:t>
            </a:r>
            <a:endParaRPr lang="en-US" sz="15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347472"/>
            <a:ext cx="8138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STEP2 </a:t>
            </a:r>
            <a:r>
              <a:rPr lang="ja-JP" altLang="en-US" sz="2800" b="1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のコード：入力して追加できるようにする</a:t>
            </a:r>
            <a:endParaRPr lang="en-US" sz="2800"/>
          </a:p>
        </p:txBody>
      </p:sp>
      <p:sp>
        <p:nvSpPr>
          <p:cNvPr id="3" name="見出し下線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8640" y="1060704"/>
            <a:ext cx="2743200" cy="0"/>
          </a:xfrm>
          <a:prstGeom prst="line">
            <a:avLst/>
          </a:prstGeom>
          <a:noFill/>
          <a:ln w="25400">
            <a:solidFill>
              <a:srgbClr val="22D3EE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" name="Text 2"/>
          <p:cNvSpPr/>
          <p:nvPr/>
        </p:nvSpPr>
        <p:spPr>
          <a:xfrm>
            <a:off x="548640" y="128016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800"/>
              </a:lnSpc>
              <a:buNone/>
            </a:pPr>
            <a:r>
              <a:rPr lang="ja-JP" altLang="en-US" sz="1800">
                <a:solidFill>
                  <a:srgbClr val="22D3E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ゴール：入力欄の文字を配列に追加し、一覧と件数が自動で増える</a:t>
            </a:r>
            <a:endParaRPr lang="en-US" sz="1800"/>
          </a:p>
        </p:txBody>
      </p:sp>
      <p:sp>
        <p:nvSpPr>
          <p:cNvPr id="5" name="カード背景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8640" y="1874520"/>
            <a:ext cx="8046720" cy="3017520"/>
          </a:xfrm>
          <a:prstGeom prst="rect">
            <a:avLst/>
          </a:prstGeom>
          <a:solidFill>
            <a:srgbClr val="12294A"/>
          </a:solidFill>
          <a:ln w="12700">
            <a:solidFill>
              <a:srgbClr val="1E3A5F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6" name="Text 4"/>
          <p:cNvSpPr/>
          <p:nvPr/>
        </p:nvSpPr>
        <p:spPr>
          <a:xfrm>
            <a:off x="914400" y="1965960"/>
            <a:ext cx="7315200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200"/>
              </a:spcAft>
              <a:buNone/>
            </a:pPr>
            <a:r>
              <a:rPr lang="en-US" altLang="ja-JP" sz="1000">
                <a:solidFill>
                  <a:srgbClr val="8FA8C4"/>
                </a:solidFill>
                <a:latin typeface="Consolas" pitchFamily="49" charset="0"/>
                <a:ea typeface="Yu Gothic" pitchFamily="34" charset="-122"/>
                <a:cs typeface="Consolas" pitchFamily="49" charset="0"/>
              </a:rPr>
              <a:t>import { useState } from 'react';   // 追加</a:t>
            </a:r>
            <a:endParaRPr lang="en-US" sz="1000"/>
          </a:p>
          <a:p>
            <a:pPr marL="0" indent="0">
              <a:spcAft>
                <a:spcPts val="200"/>
              </a:spcAft>
              <a:buNone/>
            </a:pPr>
            <a:endParaRPr lang="en-US" sz="1000"/>
          </a:p>
          <a:p>
            <a:pPr marL="0" indent="0">
              <a:spcAft>
                <a:spcPts val="200"/>
              </a:spcAft>
              <a:buNone/>
            </a:pPr>
            <a:r>
              <a:rPr lang="en-US" altLang="ja-JP" sz="1000">
                <a:solidFill>
                  <a:srgbClr val="FFFFFF"/>
                </a:solidFill>
                <a:latin typeface="Consolas" pitchFamily="49" charset="0"/>
                <a:ea typeface="Yu Gothic" pitchFamily="34" charset="-122"/>
                <a:cs typeface="Consolas" pitchFamily="49" charset="0"/>
              </a:rPr>
              <a:t>export default function App() {</a:t>
            </a:r>
            <a:endParaRPr lang="en-US" sz="1000"/>
          </a:p>
          <a:p>
            <a:pPr marL="0" indent="0">
              <a:spcAft>
                <a:spcPts val="200"/>
              </a:spcAft>
              <a:buNone/>
            </a:pPr>
            <a:r>
              <a:rPr lang="en-US" altLang="ja-JP" sz="1000">
                <a:solidFill>
                  <a:srgbClr val="FFFFFF"/>
                </a:solidFill>
                <a:latin typeface="Consolas" pitchFamily="49" charset="0"/>
                <a:ea typeface="Yu Gothic" pitchFamily="34" charset="-122"/>
                <a:cs typeface="Consolas" pitchFamily="49" charset="0"/>
              </a:rPr>
              <a:t>  const [todos, setTodos] = useState([]);   // 変化するデータ</a:t>
            </a:r>
            <a:endParaRPr lang="en-US" sz="1000"/>
          </a:p>
          <a:p>
            <a:pPr marL="0" indent="0">
              <a:spcAft>
                <a:spcPts val="200"/>
              </a:spcAft>
              <a:buNone/>
            </a:pPr>
            <a:r>
              <a:rPr lang="en-US" altLang="ja-JP" sz="1000">
                <a:solidFill>
                  <a:srgbClr val="FFFFFF"/>
                </a:solidFill>
                <a:latin typeface="Consolas" pitchFamily="49" charset="0"/>
                <a:ea typeface="Yu Gothic" pitchFamily="34" charset="-122"/>
                <a:cs typeface="Consolas" pitchFamily="49" charset="0"/>
              </a:rPr>
              <a:t>  const [text, setText] = useState('');</a:t>
            </a:r>
            <a:endParaRPr lang="en-US" sz="1000"/>
          </a:p>
          <a:p>
            <a:pPr marL="0" indent="0">
              <a:spcAft>
                <a:spcPts val="200"/>
              </a:spcAft>
              <a:buNone/>
            </a:pPr>
            <a:r>
              <a:rPr lang="en-US" altLang="ja-JP" sz="1000">
                <a:solidFill>
                  <a:srgbClr val="FFFFFF"/>
                </a:solidFill>
                <a:latin typeface="Consolas" pitchFamily="49" charset="0"/>
                <a:ea typeface="Yu Gothic" pitchFamily="34" charset="-122"/>
                <a:cs typeface="Consolas" pitchFamily="49" charset="0"/>
              </a:rPr>
              <a:t>  const add = () =&gt; {</a:t>
            </a:r>
            <a:endParaRPr lang="en-US" sz="1000"/>
          </a:p>
          <a:p>
            <a:pPr marL="0" indent="0">
              <a:spcAft>
                <a:spcPts val="200"/>
              </a:spcAft>
              <a:buNone/>
            </a:pPr>
            <a:r>
              <a:rPr lang="en-US" altLang="ja-JP" sz="1000">
                <a:solidFill>
                  <a:srgbClr val="FFFFFF"/>
                </a:solidFill>
                <a:latin typeface="Consolas" pitchFamily="49" charset="0"/>
                <a:ea typeface="Yu Gothic" pitchFamily="34" charset="-122"/>
                <a:cs typeface="Consolas" pitchFamily="49" charset="0"/>
              </a:rPr>
              <a:t>    setTodos([...todos, text]);   // push ではなく新しい配列</a:t>
            </a:r>
            <a:endParaRPr lang="en-US" sz="1000"/>
          </a:p>
          <a:p>
            <a:pPr marL="0" indent="0">
              <a:spcAft>
                <a:spcPts val="200"/>
              </a:spcAft>
              <a:buNone/>
            </a:pPr>
            <a:r>
              <a:rPr lang="en-US" altLang="ja-JP" sz="1000">
                <a:solidFill>
                  <a:srgbClr val="FFFFFF"/>
                </a:solidFill>
                <a:latin typeface="Consolas" pitchFamily="49" charset="0"/>
                <a:ea typeface="Yu Gothic" pitchFamily="34" charset="-122"/>
                <a:cs typeface="Consolas" pitchFamily="49" charset="0"/>
              </a:rPr>
              <a:t>    setText('');</a:t>
            </a:r>
            <a:endParaRPr lang="en-US" sz="1000"/>
          </a:p>
          <a:p>
            <a:pPr marL="0" indent="0">
              <a:spcAft>
                <a:spcPts val="200"/>
              </a:spcAft>
              <a:buNone/>
            </a:pPr>
            <a:r>
              <a:rPr lang="en-US" altLang="ja-JP" sz="1000">
                <a:solidFill>
                  <a:srgbClr val="FFFFFF"/>
                </a:solidFill>
                <a:latin typeface="Consolas" pitchFamily="49" charset="0"/>
                <a:ea typeface="Yu Gothic" pitchFamily="34" charset="-122"/>
                <a:cs typeface="Consolas" pitchFamily="49" charset="0"/>
              </a:rPr>
              <a:t>  };</a:t>
            </a:r>
            <a:endParaRPr lang="en-US" sz="1000"/>
          </a:p>
          <a:p>
            <a:pPr marL="0" indent="0">
              <a:spcAft>
                <a:spcPts val="200"/>
              </a:spcAft>
              <a:buNone/>
            </a:pPr>
            <a:r>
              <a:rPr lang="en-US" altLang="ja-JP" sz="1000">
                <a:solidFill>
                  <a:srgbClr val="FFFFFF"/>
                </a:solidFill>
                <a:latin typeface="Consolas" pitchFamily="49" charset="0"/>
                <a:ea typeface="Yu Gothic" pitchFamily="34" charset="-122"/>
                <a:cs typeface="Consolas" pitchFamily="49" charset="0"/>
              </a:rPr>
              <a:t>  return (&lt;div&gt;</a:t>
            </a:r>
            <a:endParaRPr lang="en-US" sz="1000"/>
          </a:p>
          <a:p>
            <a:pPr marL="0" indent="0">
              <a:spcAft>
                <a:spcPts val="200"/>
              </a:spcAft>
              <a:buNone/>
            </a:pPr>
            <a:r>
              <a:rPr lang="en-US" altLang="ja-JP" sz="1000">
                <a:solidFill>
                  <a:srgbClr val="FFFFFF"/>
                </a:solidFill>
                <a:latin typeface="Consolas" pitchFamily="49" charset="0"/>
                <a:ea typeface="Yu Gothic" pitchFamily="34" charset="-122"/>
                <a:cs typeface="Consolas" pitchFamily="49" charset="0"/>
              </a:rPr>
              <a:t>    &lt;input value={text} onChange={e =&gt; setText(e.target.value)} /&gt;</a:t>
            </a:r>
            <a:endParaRPr lang="en-US" sz="1000"/>
          </a:p>
          <a:p>
            <a:pPr marL="0" indent="0">
              <a:spcAft>
                <a:spcPts val="200"/>
              </a:spcAft>
              <a:buNone/>
            </a:pPr>
            <a:r>
              <a:rPr lang="en-US" altLang="ja-JP" sz="1000">
                <a:solidFill>
                  <a:srgbClr val="FFFFFF"/>
                </a:solidFill>
                <a:latin typeface="Consolas" pitchFamily="49" charset="0"/>
                <a:ea typeface="Yu Gothic" pitchFamily="34" charset="-122"/>
                <a:cs typeface="Consolas" pitchFamily="49" charset="0"/>
              </a:rPr>
              <a:t>    &lt;button onClick={add}&gt;追加&lt;/button&gt;</a:t>
            </a:r>
            <a:endParaRPr lang="en-US" sz="1000"/>
          </a:p>
          <a:p>
            <a:pPr marL="0" indent="0">
              <a:spcAft>
                <a:spcPts val="200"/>
              </a:spcAft>
              <a:buNone/>
            </a:pPr>
            <a:r>
              <a:rPr lang="en-US" altLang="ja-JP" sz="1000">
                <a:solidFill>
                  <a:srgbClr val="FFFFFF"/>
                </a:solidFill>
                <a:latin typeface="Consolas" pitchFamily="49" charset="0"/>
                <a:ea typeface="Yu Gothic" pitchFamily="34" charset="-122"/>
                <a:cs typeface="Consolas" pitchFamily="49" charset="0"/>
              </a:rPr>
              <a:t>    &lt;ul&gt;{todos.map((t,i) =&gt; &lt;li key={i}&gt;{t}&lt;/li&gt;)}&lt;/ul&gt;</a:t>
            </a:r>
            <a:endParaRPr lang="en-US" sz="1000"/>
          </a:p>
          <a:p>
            <a:pPr marL="0" indent="0">
              <a:spcAft>
                <a:spcPts val="200"/>
              </a:spcAft>
              <a:buNone/>
            </a:pPr>
            <a:r>
              <a:rPr lang="en-US" altLang="ja-JP" sz="1000">
                <a:solidFill>
                  <a:srgbClr val="FFFFFF"/>
                </a:solidFill>
                <a:latin typeface="Consolas" pitchFamily="49" charset="0"/>
                <a:ea typeface="Yu Gothic" pitchFamily="34" charset="-122"/>
                <a:cs typeface="Consolas" pitchFamily="49" charset="0"/>
              </a:rPr>
              <a:t>    &lt;p&gt;残り {todos.length} 件&lt;/p&gt;</a:t>
            </a:r>
            <a:endParaRPr lang="en-US" sz="1000"/>
          </a:p>
          <a:p>
            <a:pPr marL="0" indent="0">
              <a:spcAft>
                <a:spcPts val="200"/>
              </a:spcAft>
              <a:buNone/>
            </a:pPr>
            <a:r>
              <a:rPr lang="en-US" altLang="ja-JP" sz="1000">
                <a:solidFill>
                  <a:srgbClr val="FFFFFF"/>
                </a:solidFill>
                <a:latin typeface="Consolas" pitchFamily="49" charset="0"/>
                <a:ea typeface="Yu Gothic" pitchFamily="34" charset="-122"/>
                <a:cs typeface="Consolas" pitchFamily="49" charset="0"/>
              </a:rPr>
              <a:t>  &lt;/div&gt;);</a:t>
            </a:r>
            <a:endParaRPr lang="en-US" sz="1000"/>
          </a:p>
          <a:p>
            <a:pPr marL="0" indent="0">
              <a:spcAft>
                <a:spcPts val="200"/>
              </a:spcAft>
              <a:buNone/>
            </a:pPr>
            <a:r>
              <a:rPr lang="en-US" altLang="ja-JP" sz="1000">
                <a:solidFill>
                  <a:srgbClr val="FFFFFF"/>
                </a:solidFill>
                <a:latin typeface="Consolas" pitchFamily="49" charset="0"/>
                <a:ea typeface="Yu Gothic" pitchFamily="34" charset="-122"/>
                <a:cs typeface="Consolas" pitchFamily="49" charset="0"/>
              </a:rPr>
              <a:t>}</a:t>
            </a:r>
            <a:endParaRPr lang="en-US" sz="15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347472"/>
            <a:ext cx="8138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ja-JP" altLang="en-US" sz="2800" b="1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つまずいたらここを見る</a:t>
            </a:r>
            <a:endParaRPr lang="en-US" sz="2800"/>
          </a:p>
        </p:txBody>
      </p:sp>
      <p:sp>
        <p:nvSpPr>
          <p:cNvPr id="3" name="見出し下線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8640" y="1060704"/>
            <a:ext cx="2743200" cy="0"/>
          </a:xfrm>
          <a:prstGeom prst="line">
            <a:avLst/>
          </a:prstGeom>
          <a:noFill/>
          <a:ln w="25400">
            <a:solidFill>
              <a:srgbClr val="22D3EE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" name="カード背景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8640" y="1325880"/>
            <a:ext cx="8046720" cy="914400"/>
          </a:xfrm>
          <a:prstGeom prst="rect">
            <a:avLst/>
          </a:prstGeom>
          <a:solidFill>
            <a:srgbClr val="12294A"/>
          </a:solidFill>
          <a:ln w="12700">
            <a:solidFill>
              <a:srgbClr val="1E3A5F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5" name="左アクセント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8640" y="1325880"/>
            <a:ext cx="64008" cy="914400"/>
          </a:xfrm>
          <a:prstGeom prst="rect">
            <a:avLst/>
          </a:prstGeom>
          <a:solidFill>
            <a:srgbClr val="22D3EE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6" name="Text 4"/>
          <p:cNvSpPr/>
          <p:nvPr/>
        </p:nvSpPr>
        <p:spPr>
          <a:xfrm>
            <a:off x="777240" y="1417320"/>
            <a:ext cx="7589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22D3E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Q. </a:t>
            </a:r>
            <a:r>
              <a:rPr lang="ja-JP" altLang="en-US" sz="1500" b="1">
                <a:solidFill>
                  <a:srgbClr val="22D3E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画面が真っ白になった</a:t>
            </a:r>
            <a:endParaRPr lang="en-US" sz="1500"/>
          </a:p>
        </p:txBody>
      </p:sp>
      <p:sp>
        <p:nvSpPr>
          <p:cNvPr id="7" name="Text 5"/>
          <p:cNvSpPr/>
          <p:nvPr/>
        </p:nvSpPr>
        <p:spPr>
          <a:xfrm>
            <a:off x="777240" y="1764792"/>
            <a:ext cx="7589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A. </a:t>
            </a:r>
            <a:r>
              <a:rPr lang="ja-JP" altLang="en-US" sz="140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ブラウザのコンソールを開く。閉じタグ忘れや変数名の打ち間違いがほとんどです。</a:t>
            </a:r>
            <a:endParaRPr lang="en-US" sz="1400"/>
          </a:p>
        </p:txBody>
      </p:sp>
      <p:sp>
        <p:nvSpPr>
          <p:cNvPr id="8" name="カード背景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8640" y="2377440"/>
            <a:ext cx="8046720" cy="914400"/>
          </a:xfrm>
          <a:prstGeom prst="rect">
            <a:avLst/>
          </a:prstGeom>
          <a:solidFill>
            <a:srgbClr val="12294A"/>
          </a:solidFill>
          <a:ln w="12700">
            <a:solidFill>
              <a:srgbClr val="1E3A5F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9" name="左アクセント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8640" y="2377440"/>
            <a:ext cx="64008" cy="914400"/>
          </a:xfrm>
          <a:prstGeom prst="rect">
            <a:avLst/>
          </a:prstGeom>
          <a:solidFill>
            <a:srgbClr val="22D3EE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0" name="Text 8"/>
          <p:cNvSpPr/>
          <p:nvPr/>
        </p:nvSpPr>
        <p:spPr>
          <a:xfrm>
            <a:off x="777240" y="2468880"/>
            <a:ext cx="7589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22D3E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Q. </a:t>
            </a:r>
            <a:r>
              <a:rPr lang="ja-JP" altLang="en-US" sz="1500" b="1">
                <a:solidFill>
                  <a:srgbClr val="22D3E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値を変えたのに画面が変わらない</a:t>
            </a:r>
            <a:endParaRPr lang="en-US" sz="1500"/>
          </a:p>
        </p:txBody>
      </p:sp>
      <p:sp>
        <p:nvSpPr>
          <p:cNvPr id="11" name="Text 9"/>
          <p:cNvSpPr/>
          <p:nvPr/>
        </p:nvSpPr>
        <p:spPr>
          <a:xfrm>
            <a:off x="777240" y="2816352"/>
            <a:ext cx="7589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A. </a:t>
            </a:r>
            <a:r>
              <a:rPr lang="ja-JP" altLang="en-US" sz="140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変数を直接書き換えていませんか。必ず </a:t>
            </a:r>
            <a:r>
              <a:rPr lang="en-US" sz="140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setState </a:t>
            </a:r>
            <a:r>
              <a:rPr lang="ja-JP" altLang="en-US" sz="140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系の関数を通して更新します。</a:t>
            </a:r>
            <a:endParaRPr lang="en-US" sz="1400"/>
          </a:p>
        </p:txBody>
      </p:sp>
      <p:sp>
        <p:nvSpPr>
          <p:cNvPr id="12" name="カード背景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8640" y="3429000"/>
            <a:ext cx="8046720" cy="914400"/>
          </a:xfrm>
          <a:prstGeom prst="rect">
            <a:avLst/>
          </a:prstGeom>
          <a:solidFill>
            <a:srgbClr val="12294A"/>
          </a:solidFill>
          <a:ln w="12700">
            <a:solidFill>
              <a:srgbClr val="1E3A5F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3" name="左アクセント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8640" y="3429000"/>
            <a:ext cx="64008" cy="914400"/>
          </a:xfrm>
          <a:prstGeom prst="rect">
            <a:avLst/>
          </a:prstGeom>
          <a:solidFill>
            <a:srgbClr val="22D3EE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4" name="Text 12"/>
          <p:cNvSpPr/>
          <p:nvPr/>
        </p:nvSpPr>
        <p:spPr>
          <a:xfrm>
            <a:off x="777240" y="3520440"/>
            <a:ext cx="7589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22D3E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Q. map </a:t>
            </a:r>
            <a:r>
              <a:rPr lang="ja-JP" altLang="en-US" sz="1500" b="1">
                <a:solidFill>
                  <a:srgbClr val="22D3E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で警告が出る</a:t>
            </a:r>
            <a:endParaRPr lang="en-US" sz="1500"/>
          </a:p>
        </p:txBody>
      </p:sp>
      <p:sp>
        <p:nvSpPr>
          <p:cNvPr id="15" name="Text 13"/>
          <p:cNvSpPr/>
          <p:nvPr/>
        </p:nvSpPr>
        <p:spPr>
          <a:xfrm>
            <a:off x="777240" y="3867912"/>
            <a:ext cx="7589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A. </a:t>
            </a:r>
            <a:r>
              <a:rPr lang="ja-JP" altLang="en-US" sz="140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各要素に </a:t>
            </a:r>
            <a:r>
              <a:rPr lang="en-US" sz="140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key </a:t>
            </a:r>
            <a:r>
              <a:rPr lang="ja-JP" altLang="en-US" sz="140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を付けます。</a:t>
            </a:r>
            <a:r>
              <a:rPr lang="en-US" sz="140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id </a:t>
            </a:r>
            <a:r>
              <a:rPr lang="ja-JP" altLang="en-US" sz="140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など重複しない値を渡せば消えます。</a:t>
            </a:r>
            <a:endParaRPr lang="en-US" sz="14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ドキュメント" ma:contentTypeID="0x010100142FDA3ABBCD154A9210F0A70488BDA5" ma:contentTypeVersion="13" ma:contentTypeDescription="新しいドキュメントを作成します。" ma:contentTypeScope="" ma:versionID="f113d3662dbff0b3d5c059083f0e6c17">
  <xsd:schema xmlns:xsd="http://www.w3.org/2001/XMLSchema" xmlns:xs="http://www.w3.org/2001/XMLSchema" xmlns:p="http://schemas.microsoft.com/office/2006/metadata/properties" xmlns:ns3="91a5efbd-7d02-4308-8565-d8690abf6588" targetNamespace="http://schemas.microsoft.com/office/2006/metadata/properties" ma:root="true" ma:fieldsID="18fefd990dfabeaf438368bc46c1ae56" ns3:_="">
    <xsd:import namespace="91a5efbd-7d02-4308-8565-d8690abf6588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ObjectDetectorVersions" minOccurs="0"/>
                <xsd:element ref="ns3:MediaServiceSystemTags" minOccurs="0"/>
                <xsd:element ref="ns3:MediaServiceGenerationTime" minOccurs="0"/>
                <xsd:element ref="ns3:MediaServiceEventHashCode" minOccurs="0"/>
                <xsd:element ref="ns3:MediaServiceOCR" minOccurs="0"/>
                <xsd:element ref="ns3:_activity" minOccurs="0"/>
                <xsd:element ref="ns3:MediaLengthInSeconds" minOccurs="0"/>
                <xsd:element ref="ns3:MediaServiceBillingMetadata" minOccurs="0"/>
                <xsd:element ref="ns3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1a5efbd-7d02-4308-8565-d8690abf6588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ystemTags" ma:index="13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_activity" ma:index="17" nillable="true" ma:displayName="_activity" ma:hidden="true" ma:internalName="_activity">
      <xsd:simpleType>
        <xsd:restriction base="dms:Note"/>
      </xsd:simpleType>
    </xsd:element>
    <xsd:element name="MediaLengthInSeconds" ma:index="18" nillable="true" ma:displayName="MediaLengthInSeconds" ma:hidden="true" ma:internalName="MediaLengthInSeconds" ma:readOnly="true">
      <xsd:simpleType>
        <xsd:restriction base="dms:Unknown"/>
      </xsd:simpleType>
    </xsd:element>
    <xsd:element name="MediaServiceBillingMetadata" ma:index="19" nillable="true" ma:displayName="MediaServiceBillingMetadata" ma:hidden="true" ma:internalName="MediaServiceBillingMetadata" ma:readOnly="true">
      <xsd:simpleType>
        <xsd:restriction base="dms:Note"/>
      </xsd:simpleType>
    </xsd:element>
    <xsd:element name="MediaServiceLocation" ma:index="20" nillable="true" ma:displayName="Location" ma:indexed="true" ma:internalName="MediaServiceLocation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コンテンツ タイプ"/>
        <xsd:element ref="dc:title" minOccurs="0" maxOccurs="1" ma:index="4" ma:displayName="タイトル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91a5efbd-7d02-4308-8565-d8690abf6588" xsi:nil="true"/>
  </documentManagement>
</p:properties>
</file>

<file path=customXml/itemProps1.xml><?xml version="1.0" encoding="utf-8"?>
<ds:datastoreItem xmlns:ds="http://schemas.openxmlformats.org/officeDocument/2006/customXml" ds:itemID="{2C3D5975-98EA-40BE-A973-BBCBA2AD94C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91a5efbd-7d02-4308-8565-d8690abf6588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9907711E-74A8-49D6-8DE6-D1DC40750B36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1E8C95D6-6A04-4069-890E-C29C50E32953}">
  <ds:schemaRefs>
    <ds:schemaRef ds:uri="http://www.w3.org/XML/1998/namespace"/>
    <ds:schemaRef ds:uri="http://schemas.microsoft.com/office/infopath/2007/PartnerControls"/>
    <ds:schemaRef ds:uri="http://purl.org/dc/elements/1.1/"/>
    <ds:schemaRef ds:uri="http://schemas.microsoft.com/office/2006/documentManagement/types"/>
    <ds:schemaRef ds:uri="http://purl.org/dc/dcmitype/"/>
    <ds:schemaRef ds:uri="http://purl.org/dc/terms/"/>
    <ds:schemaRef ds:uri="http://schemas.openxmlformats.org/package/2006/metadata/core-properties"/>
    <ds:schemaRef ds:uri="91a5efbd-7d02-4308-8565-d8690abf6588"/>
    <ds:schemaRef ds:uri="http://schemas.microsoft.com/office/2006/metadata/properties"/>
  </ds:schemaRefs>
</ds:datastoreItem>
</file>

<file path=docMetadata/LabelInfo.xml><?xml version="1.0" encoding="utf-8"?>
<clbl:labelList xmlns:clbl="http://schemas.microsoft.com/office/2020/mipLabelMetadata">
  <clbl:label id="{8d41d6d7-36ce-4e0c-8c6d-cf2c54c39039}" enabled="0" method="" siteId="{8d41d6d7-36ce-4e0c-8c6d-cf2c54c39039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107</TotalTime>
  <Words>858</Words>
  <Application>Microsoft Office PowerPoint</Application>
  <PresentationFormat>画面に合わせる (16:9)</PresentationFormat>
  <Paragraphs>108</Paragraphs>
  <Slides>10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10</vt:i4>
      </vt:variant>
    </vt:vector>
  </HeadingPairs>
  <TitlesOfParts>
    <vt:vector size="15" baseType="lpstr">
      <vt:lpstr>Yu Gothic</vt:lpstr>
      <vt:lpstr>Arial</vt:lpstr>
      <vt:lpstr>Calibri</vt:lpstr>
      <vt:lpstr>Consolas</vt:lpstr>
      <vt:lpstr>Office Theme</vt:lpstr>
      <vt:lpstr>React チュートリアル</vt:lpstr>
      <vt:lpstr>今日つくるもの：TODOリスト</vt:lpstr>
      <vt:lpstr>進め方（この4ステップで動く）</vt:lpstr>
      <vt:lpstr>その前に：npm とは何か</vt:lpstr>
      <vt:lpstr>環境構築：ターミナルで打つコマンド</vt:lpstr>
      <vt:lpstr>STEP1：コンポーネントを書く</vt:lpstr>
      <vt:lpstr>STEP1 のコード：App.jsx 全文</vt:lpstr>
      <vt:lpstr>STEP2：state で画面を動かす</vt:lpstr>
      <vt:lpstr>STEP2 のコード：入力して追加できるようにする</vt:lpstr>
      <vt:lpstr>つまずいたらここを見る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NH-STAFF 高橋真広</dc:creator>
  <cp:lastModifiedBy>NH-STAFF 高橋真広</cp:lastModifiedBy>
  <cp:revision>1</cp:revision>
  <dcterms:created xsi:type="dcterms:W3CDTF">2026-09-06T19:05:39Z</dcterms:created>
  <dcterms:modified xsi:type="dcterms:W3CDTF">2026-09-06T20:53:00Z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0x010100142FDA3ABBCD154A9210F0A70488BDA5</vt:lpwstr>
  </property>
</Properties>
</file>